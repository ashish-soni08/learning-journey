
<file path=[Content_Types].xml><?xml version="1.0" encoding="utf-8"?>
<Types xmlns="http://schemas.openxmlformats.org/package/2006/content-types">
  <Default Extension="png" ContentType="image/png"/>
  <Default Extension="pdf" ContentType="application/pdf"/>
  <Default Extension="svg" ContentType="image/svg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0275213" cy="42803763"/>
  <p:notesSz cx="6858000" cy="9144000"/>
  <p:defaultTextStyle>
    <a:defPPr>
      <a:defRPr lang="de-DE"/>
    </a:defPPr>
    <a:lvl1pPr algn="l" defTabSz="2087563" rtl="0" fontAlgn="base">
      <a:spcBef>
        <a:spcPct val="0"/>
      </a:spcBef>
      <a:spcAft>
        <a:spcPct val="0"/>
      </a:spcAft>
      <a:defRPr sz="8200" kern="1200">
        <a:solidFill>
          <a:schemeClr val="tx1"/>
        </a:solidFill>
        <a:latin typeface="Arial" pitchFamily="-65" charset="0"/>
        <a:ea typeface="ＭＳ Ｐゴシック" pitchFamily="-65" charset="-128"/>
        <a:cs typeface="ＭＳ Ｐゴシック" pitchFamily="-65" charset="-128"/>
      </a:defRPr>
    </a:lvl1pPr>
    <a:lvl2pPr marL="2087563" indent="-1630363" algn="l" defTabSz="2087563" rtl="0" fontAlgn="base">
      <a:spcBef>
        <a:spcPct val="0"/>
      </a:spcBef>
      <a:spcAft>
        <a:spcPct val="0"/>
      </a:spcAft>
      <a:defRPr sz="8200" kern="1200">
        <a:solidFill>
          <a:schemeClr val="tx1"/>
        </a:solidFill>
        <a:latin typeface="Arial" pitchFamily="-65" charset="0"/>
        <a:ea typeface="ＭＳ Ｐゴシック" pitchFamily="-65" charset="-128"/>
        <a:cs typeface="ＭＳ Ｐゴシック" pitchFamily="-65" charset="-128"/>
      </a:defRPr>
    </a:lvl2pPr>
    <a:lvl3pPr marL="4175125" indent="-3260725" algn="l" defTabSz="2087563" rtl="0" fontAlgn="base">
      <a:spcBef>
        <a:spcPct val="0"/>
      </a:spcBef>
      <a:spcAft>
        <a:spcPct val="0"/>
      </a:spcAft>
      <a:defRPr sz="8200" kern="1200">
        <a:solidFill>
          <a:schemeClr val="tx1"/>
        </a:solidFill>
        <a:latin typeface="Arial" pitchFamily="-65" charset="0"/>
        <a:ea typeface="ＭＳ Ｐゴシック" pitchFamily="-65" charset="-128"/>
        <a:cs typeface="ＭＳ Ｐゴシック" pitchFamily="-65" charset="-128"/>
      </a:defRPr>
    </a:lvl3pPr>
    <a:lvl4pPr marL="6262688" indent="-4891088" algn="l" defTabSz="2087563" rtl="0" fontAlgn="base">
      <a:spcBef>
        <a:spcPct val="0"/>
      </a:spcBef>
      <a:spcAft>
        <a:spcPct val="0"/>
      </a:spcAft>
      <a:defRPr sz="8200" kern="1200">
        <a:solidFill>
          <a:schemeClr val="tx1"/>
        </a:solidFill>
        <a:latin typeface="Arial" pitchFamily="-65" charset="0"/>
        <a:ea typeface="ＭＳ Ｐゴシック" pitchFamily="-65" charset="-128"/>
        <a:cs typeface="ＭＳ Ｐゴシック" pitchFamily="-65" charset="-128"/>
      </a:defRPr>
    </a:lvl4pPr>
    <a:lvl5pPr marL="8350250" indent="-6521450" algn="l" defTabSz="2087563" rtl="0" fontAlgn="base">
      <a:spcBef>
        <a:spcPct val="0"/>
      </a:spcBef>
      <a:spcAft>
        <a:spcPct val="0"/>
      </a:spcAft>
      <a:defRPr sz="8200" kern="1200">
        <a:solidFill>
          <a:schemeClr val="tx1"/>
        </a:solidFill>
        <a:latin typeface="Arial" pitchFamily="-65" charset="0"/>
        <a:ea typeface="ＭＳ Ｐゴシック" pitchFamily="-65" charset="-128"/>
        <a:cs typeface="ＭＳ Ｐゴシック" pitchFamily="-65" charset="-128"/>
      </a:defRPr>
    </a:lvl5pPr>
    <a:lvl6pPr marL="2286000" algn="l" defTabSz="457200" rtl="0" eaLnBrk="1" latinLnBrk="0" hangingPunct="1">
      <a:defRPr sz="8200" kern="1200">
        <a:solidFill>
          <a:schemeClr val="tx1"/>
        </a:solidFill>
        <a:latin typeface="Arial" pitchFamily="-65" charset="0"/>
        <a:ea typeface="ＭＳ Ｐゴシック" pitchFamily="-65" charset="-128"/>
        <a:cs typeface="ＭＳ Ｐゴシック" pitchFamily="-65" charset="-128"/>
      </a:defRPr>
    </a:lvl6pPr>
    <a:lvl7pPr marL="2743200" algn="l" defTabSz="457200" rtl="0" eaLnBrk="1" latinLnBrk="0" hangingPunct="1">
      <a:defRPr sz="8200" kern="1200">
        <a:solidFill>
          <a:schemeClr val="tx1"/>
        </a:solidFill>
        <a:latin typeface="Arial" pitchFamily="-65" charset="0"/>
        <a:ea typeface="ＭＳ Ｐゴシック" pitchFamily="-65" charset="-128"/>
        <a:cs typeface="ＭＳ Ｐゴシック" pitchFamily="-65" charset="-128"/>
      </a:defRPr>
    </a:lvl7pPr>
    <a:lvl8pPr marL="3200400" algn="l" defTabSz="457200" rtl="0" eaLnBrk="1" latinLnBrk="0" hangingPunct="1">
      <a:defRPr sz="8200" kern="1200">
        <a:solidFill>
          <a:schemeClr val="tx1"/>
        </a:solidFill>
        <a:latin typeface="Arial" pitchFamily="-65" charset="0"/>
        <a:ea typeface="ＭＳ Ｐゴシック" pitchFamily="-65" charset="-128"/>
        <a:cs typeface="ＭＳ Ｐゴシック" pitchFamily="-65" charset="-128"/>
      </a:defRPr>
    </a:lvl8pPr>
    <a:lvl9pPr marL="3657600" algn="l" defTabSz="457200" rtl="0" eaLnBrk="1" latinLnBrk="0" hangingPunct="1">
      <a:defRPr sz="8200" kern="1200">
        <a:solidFill>
          <a:schemeClr val="tx1"/>
        </a:solidFill>
        <a:latin typeface="Arial" pitchFamily="-65" charset="0"/>
        <a:ea typeface="ＭＳ Ｐゴシック" pitchFamily="-65" charset="-128"/>
        <a:cs typeface="ＭＳ Ｐゴシック" pitchFamily="-65" charset="-128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3152">
          <p15:clr>
            <a:srgbClr val="A4A3A4"/>
          </p15:clr>
        </p15:guide>
        <p15:guide id="2" pos="1840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10"/>
    <p:restoredTop sz="94705"/>
  </p:normalViewPr>
  <p:slideViewPr>
    <p:cSldViewPr snapToObjects="1">
      <p:cViewPr>
        <p:scale>
          <a:sx n="30" d="100"/>
          <a:sy n="30" d="100"/>
        </p:scale>
        <p:origin x="-1914" y="-72"/>
      </p:cViewPr>
      <p:guideLst>
        <p:guide orient="horz" pos="3152"/>
        <p:guide pos="1840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2087941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defTabSz="2087941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F16AFA40-508B-F145-B2D9-12A00C18A77A}" type="datetime1">
              <a:rPr lang="de-DE"/>
              <a:pPr>
                <a:defRPr/>
              </a:pPr>
              <a:t>26.06.2019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2216150" y="685800"/>
            <a:ext cx="24257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DE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2087941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defTabSz="2087941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988E111D-CBDD-3542-BD6D-3402AFAD820A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65" charset="-128"/>
        <a:cs typeface="ＭＳ Ｐゴシック" pitchFamily="-65" charset="-128"/>
      </a:defRPr>
    </a:lvl1pPr>
    <a:lvl2pPr marL="4572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65" charset="-128"/>
        <a:cs typeface="+mn-cs"/>
      </a:defRPr>
    </a:lvl2pPr>
    <a:lvl3pPr marL="9144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65" charset="-128"/>
        <a:cs typeface="+mn-cs"/>
      </a:defRPr>
    </a:lvl3pPr>
    <a:lvl4pPr marL="13716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65" charset="-128"/>
        <a:cs typeface="+mn-cs"/>
      </a:defRPr>
    </a:lvl4pPr>
    <a:lvl5pPr marL="18288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65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107406" y="3723481"/>
            <a:ext cx="27127200" cy="1371600"/>
          </a:xfrm>
          <a:prstGeom prst="rect">
            <a:avLst/>
          </a:prstGeom>
        </p:spPr>
        <p:txBody>
          <a:bodyPr vert="horz" lIns="0" anchor="ctr" anchorCtr="0"/>
          <a:lstStyle>
            <a:lvl1pPr marL="304800" indent="0" algn="l">
              <a:defRPr sz="6000" baseline="0">
                <a:latin typeface="Lucida Sans Bold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xmlns="" id="{07E91342-0863-4F52-83E5-050B4FAE325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986478" y="899345"/>
            <a:ext cx="6752184" cy="268451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d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 3" descr="WW_Wiss_Poster_A1_RGB.pdf"/>
          <p:cNvPicPr>
            <a:picLocks noChangeAspect="1"/>
          </p:cNvPicPr>
          <p:nvPr userDrawn="1"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0" y="0"/>
            <a:ext cx="30275212" cy="4274978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2087563" rtl="0" fontAlgn="base">
        <a:spcBef>
          <a:spcPct val="0"/>
        </a:spcBef>
        <a:spcAft>
          <a:spcPct val="0"/>
        </a:spcAft>
        <a:defRPr sz="20100" kern="1200">
          <a:solidFill>
            <a:schemeClr val="tx1"/>
          </a:solidFill>
          <a:latin typeface="+mj-lt"/>
          <a:ea typeface="ＭＳ Ｐゴシック" pitchFamily="-65" charset="-128"/>
          <a:cs typeface="ＭＳ Ｐゴシック" pitchFamily="-65" charset="-128"/>
        </a:defRPr>
      </a:lvl1pPr>
      <a:lvl2pPr algn="ctr" defTabSz="2087563" rtl="0" fontAlgn="base">
        <a:spcBef>
          <a:spcPct val="0"/>
        </a:spcBef>
        <a:spcAft>
          <a:spcPct val="0"/>
        </a:spcAft>
        <a:defRPr sz="201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2pPr>
      <a:lvl3pPr algn="ctr" defTabSz="2087563" rtl="0" fontAlgn="base">
        <a:spcBef>
          <a:spcPct val="0"/>
        </a:spcBef>
        <a:spcAft>
          <a:spcPct val="0"/>
        </a:spcAft>
        <a:defRPr sz="201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3pPr>
      <a:lvl4pPr algn="ctr" defTabSz="2087563" rtl="0" fontAlgn="base">
        <a:spcBef>
          <a:spcPct val="0"/>
        </a:spcBef>
        <a:spcAft>
          <a:spcPct val="0"/>
        </a:spcAft>
        <a:defRPr sz="201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4pPr>
      <a:lvl5pPr algn="ctr" defTabSz="2087563" rtl="0" fontAlgn="base">
        <a:spcBef>
          <a:spcPct val="0"/>
        </a:spcBef>
        <a:spcAft>
          <a:spcPct val="0"/>
        </a:spcAft>
        <a:defRPr sz="201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5pPr>
      <a:lvl6pPr marL="457200" algn="ctr" defTabSz="2087563" rtl="0" fontAlgn="base">
        <a:spcBef>
          <a:spcPct val="0"/>
        </a:spcBef>
        <a:spcAft>
          <a:spcPct val="0"/>
        </a:spcAft>
        <a:defRPr sz="201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6pPr>
      <a:lvl7pPr marL="914400" algn="ctr" defTabSz="2087563" rtl="0" fontAlgn="base">
        <a:spcBef>
          <a:spcPct val="0"/>
        </a:spcBef>
        <a:spcAft>
          <a:spcPct val="0"/>
        </a:spcAft>
        <a:defRPr sz="201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7pPr>
      <a:lvl8pPr marL="1371600" algn="ctr" defTabSz="2087563" rtl="0" fontAlgn="base">
        <a:spcBef>
          <a:spcPct val="0"/>
        </a:spcBef>
        <a:spcAft>
          <a:spcPct val="0"/>
        </a:spcAft>
        <a:defRPr sz="201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8pPr>
      <a:lvl9pPr marL="1828800" algn="ctr" defTabSz="2087563" rtl="0" fontAlgn="base">
        <a:spcBef>
          <a:spcPct val="0"/>
        </a:spcBef>
        <a:spcAft>
          <a:spcPct val="0"/>
        </a:spcAft>
        <a:defRPr sz="201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9pPr>
    </p:titleStyle>
    <p:bodyStyle>
      <a:lvl1pPr marL="1565275" indent="-1565275" algn="l" defTabSz="2087563" rtl="0" fontAlgn="base">
        <a:spcBef>
          <a:spcPct val="20000"/>
        </a:spcBef>
        <a:spcAft>
          <a:spcPct val="0"/>
        </a:spcAft>
        <a:buFont typeface="Arial" pitchFamily="-65" charset="0"/>
        <a:buChar char="•"/>
        <a:defRPr sz="14600" kern="1200">
          <a:solidFill>
            <a:schemeClr val="tx1"/>
          </a:solidFill>
          <a:latin typeface="+mn-lt"/>
          <a:ea typeface="ＭＳ Ｐゴシック" pitchFamily="-65" charset="-128"/>
          <a:cs typeface="ＭＳ Ｐゴシック" pitchFamily="-65" charset="-128"/>
        </a:defRPr>
      </a:lvl1pPr>
      <a:lvl2pPr marL="3392488" indent="-1304925" algn="l" defTabSz="2087563" rtl="0" fontAlgn="base">
        <a:spcBef>
          <a:spcPct val="20000"/>
        </a:spcBef>
        <a:spcAft>
          <a:spcPct val="0"/>
        </a:spcAft>
        <a:buFont typeface="Arial" pitchFamily="-65" charset="0"/>
        <a:buChar char="–"/>
        <a:defRPr sz="12800" kern="1200">
          <a:solidFill>
            <a:schemeClr val="tx1"/>
          </a:solidFill>
          <a:latin typeface="+mn-lt"/>
          <a:ea typeface="ＭＳ Ｐゴシック" pitchFamily="-65" charset="-128"/>
          <a:cs typeface="+mn-cs"/>
        </a:defRPr>
      </a:lvl2pPr>
      <a:lvl3pPr marL="5219700" indent="-1042988" algn="l" defTabSz="2087563" rtl="0" fontAlgn="base">
        <a:spcBef>
          <a:spcPct val="20000"/>
        </a:spcBef>
        <a:spcAft>
          <a:spcPct val="0"/>
        </a:spcAft>
        <a:buFont typeface="Arial" pitchFamily="-65" charset="0"/>
        <a:buChar char="•"/>
        <a:defRPr sz="11000" kern="1200">
          <a:solidFill>
            <a:schemeClr val="tx1"/>
          </a:solidFill>
          <a:latin typeface="+mn-lt"/>
          <a:ea typeface="ＭＳ Ｐゴシック" pitchFamily="-65" charset="-128"/>
          <a:cs typeface="+mn-cs"/>
        </a:defRPr>
      </a:lvl3pPr>
      <a:lvl4pPr marL="7307263" indent="-1042988" algn="l" defTabSz="2087563" rtl="0" fontAlgn="base">
        <a:spcBef>
          <a:spcPct val="20000"/>
        </a:spcBef>
        <a:spcAft>
          <a:spcPct val="0"/>
        </a:spcAft>
        <a:buFont typeface="Arial" pitchFamily="-65" charset="0"/>
        <a:buChar char="–"/>
        <a:defRPr sz="9100" kern="1200">
          <a:solidFill>
            <a:schemeClr val="tx1"/>
          </a:solidFill>
          <a:latin typeface="+mn-lt"/>
          <a:ea typeface="ＭＳ Ｐゴシック" pitchFamily="-65" charset="-128"/>
          <a:cs typeface="+mn-cs"/>
        </a:defRPr>
      </a:lvl4pPr>
      <a:lvl5pPr marL="9394825" indent="-1042988" algn="l" defTabSz="2087563" rtl="0" fontAlgn="base">
        <a:spcBef>
          <a:spcPct val="20000"/>
        </a:spcBef>
        <a:spcAft>
          <a:spcPct val="0"/>
        </a:spcAft>
        <a:buFont typeface="Arial" pitchFamily="-65" charset="0"/>
        <a:buChar char="»"/>
        <a:defRPr sz="9100" kern="1200">
          <a:solidFill>
            <a:schemeClr val="tx1"/>
          </a:solidFill>
          <a:latin typeface="+mn-lt"/>
          <a:ea typeface="ＭＳ Ｐゴシック" pitchFamily="-65" charset="-128"/>
          <a:cs typeface="+mn-cs"/>
        </a:defRPr>
      </a:lvl5pPr>
      <a:lvl6pPr marL="11483675" indent="-1043970" algn="l" defTabSz="2087941" rtl="0" eaLnBrk="1" latinLnBrk="0" hangingPunct="1">
        <a:spcBef>
          <a:spcPct val="20000"/>
        </a:spcBef>
        <a:buFont typeface="Arial"/>
        <a:buChar char="•"/>
        <a:defRPr sz="9100" kern="1200">
          <a:solidFill>
            <a:schemeClr val="tx1"/>
          </a:solidFill>
          <a:latin typeface="+mn-lt"/>
          <a:ea typeface="+mn-ea"/>
          <a:cs typeface="+mn-cs"/>
        </a:defRPr>
      </a:lvl6pPr>
      <a:lvl7pPr marL="13571616" indent="-1043970" algn="l" defTabSz="2087941" rtl="0" eaLnBrk="1" latinLnBrk="0" hangingPunct="1">
        <a:spcBef>
          <a:spcPct val="20000"/>
        </a:spcBef>
        <a:buFont typeface="Arial"/>
        <a:buChar char="•"/>
        <a:defRPr sz="9100" kern="1200">
          <a:solidFill>
            <a:schemeClr val="tx1"/>
          </a:solidFill>
          <a:latin typeface="+mn-lt"/>
          <a:ea typeface="+mn-ea"/>
          <a:cs typeface="+mn-cs"/>
        </a:defRPr>
      </a:lvl7pPr>
      <a:lvl8pPr marL="15659557" indent="-1043970" algn="l" defTabSz="2087941" rtl="0" eaLnBrk="1" latinLnBrk="0" hangingPunct="1">
        <a:spcBef>
          <a:spcPct val="20000"/>
        </a:spcBef>
        <a:buFont typeface="Arial"/>
        <a:buChar char="•"/>
        <a:defRPr sz="9100" kern="1200">
          <a:solidFill>
            <a:schemeClr val="tx1"/>
          </a:solidFill>
          <a:latin typeface="+mn-lt"/>
          <a:ea typeface="+mn-ea"/>
          <a:cs typeface="+mn-cs"/>
        </a:defRPr>
      </a:lvl8pPr>
      <a:lvl9pPr marL="17747498" indent="-1043970" algn="l" defTabSz="2087941" rtl="0" eaLnBrk="1" latinLnBrk="0" hangingPunct="1">
        <a:spcBef>
          <a:spcPct val="20000"/>
        </a:spcBef>
        <a:buFont typeface="Arial"/>
        <a:buChar char="•"/>
        <a:defRPr sz="9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2087941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1pPr>
      <a:lvl2pPr marL="2087941" algn="l" defTabSz="2087941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2pPr>
      <a:lvl3pPr marL="4175882" algn="l" defTabSz="2087941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3pPr>
      <a:lvl4pPr marL="6263823" algn="l" defTabSz="2087941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4pPr>
      <a:lvl5pPr marL="8351764" algn="l" defTabSz="2087941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5pPr>
      <a:lvl6pPr marL="10439705" algn="l" defTabSz="2087941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6pPr>
      <a:lvl7pPr marL="12527646" algn="l" defTabSz="2087941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7pPr>
      <a:lvl8pPr marL="14615587" algn="l" defTabSz="2087941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8pPr>
      <a:lvl9pPr marL="16703528" algn="l" defTabSz="2087941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4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12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5" Type="http://schemas.openxmlformats.org/officeDocument/2006/relationships/image" Target="../media/image16.svg"/><Relationship Id="rId10" Type="http://schemas.openxmlformats.org/officeDocument/2006/relationships/image" Target="../media/image7.png"/><Relationship Id="rId4" Type="http://schemas.openxmlformats.org/officeDocument/2006/relationships/image" Target="../media/image4.png"/><Relationship Id="rId9" Type="http://schemas.openxmlformats.org/officeDocument/2006/relationships/image" Target="../media/image10.svg"/><Relationship Id="rId1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5"/>
          <p:cNvSpPr txBox="1">
            <a:spLocks/>
          </p:cNvSpPr>
          <p:nvPr/>
        </p:nvSpPr>
        <p:spPr bwMode="auto">
          <a:xfrm>
            <a:off x="19328006" y="22764763"/>
            <a:ext cx="9923168" cy="1068538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pPr marL="304800">
              <a:spcBef>
                <a:spcPct val="20000"/>
              </a:spcBef>
              <a:buFont typeface="Arial" pitchFamily="-65" charset="0"/>
              <a:buNone/>
            </a:pPr>
            <a:r>
              <a:rPr lang="" sz="60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Evaluation </a:t>
            </a:r>
            <a:endParaRPr lang="de-DE" sz="6000" dirty="0">
              <a:solidFill>
                <a:schemeClr val="bg1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6" name="Textplatzhalter 5"/>
          <p:cNvSpPr txBox="1">
            <a:spLocks/>
          </p:cNvSpPr>
          <p:nvPr/>
        </p:nvSpPr>
        <p:spPr bwMode="auto">
          <a:xfrm>
            <a:off x="1727053" y="37175789"/>
            <a:ext cx="13251119" cy="1068538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pPr marL="304800">
              <a:spcBef>
                <a:spcPct val="20000"/>
              </a:spcBef>
            </a:pPr>
            <a:r>
              <a:rPr lang="en-GB" sz="60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Results</a:t>
            </a:r>
          </a:p>
        </p:txBody>
      </p:sp>
      <p:sp>
        <p:nvSpPr>
          <p:cNvPr id="9" name="Textfeld 15"/>
          <p:cNvSpPr txBox="1">
            <a:spLocks noChangeArrowheads="1"/>
          </p:cNvSpPr>
          <p:nvPr/>
        </p:nvSpPr>
        <p:spPr bwMode="auto">
          <a:xfrm>
            <a:off x="2107406" y="5301585"/>
            <a:ext cx="26997522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de-DE" sz="36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Ashish</a:t>
            </a:r>
            <a:r>
              <a:rPr lang="de-DE" sz="36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de-DE" sz="36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Soni</a:t>
            </a:r>
            <a:r>
              <a:rPr lang="de-DE" sz="3600" dirty="0">
                <a:latin typeface="Tahoma" pitchFamily="34" charset="0"/>
                <a:ea typeface="Tahoma" pitchFamily="34" charset="0"/>
                <a:cs typeface="Tahoma" pitchFamily="34" charset="0"/>
              </a:rPr>
              <a:t>, </a:t>
            </a:r>
            <a:r>
              <a:rPr lang="de-DE" sz="36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Darshit</a:t>
            </a:r>
            <a:r>
              <a:rPr lang="de-DE" sz="36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de-DE" sz="36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Paresh</a:t>
            </a:r>
            <a:r>
              <a:rPr lang="de-DE" sz="3600" dirty="0">
                <a:latin typeface="Tahoma" pitchFamily="34" charset="0"/>
                <a:ea typeface="Tahoma" pitchFamily="34" charset="0"/>
                <a:cs typeface="Tahoma" pitchFamily="34" charset="0"/>
              </a:rPr>
              <a:t> Shah, </a:t>
            </a:r>
            <a:r>
              <a:rPr lang="de-DE" sz="36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Momtaj</a:t>
            </a:r>
            <a:r>
              <a:rPr lang="de-DE" sz="3600" dirty="0">
                <a:latin typeface="Tahoma" pitchFamily="34" charset="0"/>
                <a:ea typeface="Tahoma" pitchFamily="34" charset="0"/>
                <a:cs typeface="Tahoma" pitchFamily="34" charset="0"/>
              </a:rPr>
              <a:t> Anar </a:t>
            </a:r>
            <a:r>
              <a:rPr lang="de-DE" sz="36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Monni</a:t>
            </a:r>
            <a:r>
              <a:rPr lang="de-DE" sz="3600" dirty="0">
                <a:latin typeface="Tahoma" pitchFamily="34" charset="0"/>
                <a:ea typeface="Tahoma" pitchFamily="34" charset="0"/>
                <a:cs typeface="Tahoma" pitchFamily="34" charset="0"/>
              </a:rPr>
              <a:t>, Roland Schnee</a:t>
            </a:r>
          </a:p>
          <a:p>
            <a:endParaRPr lang="de-DE" sz="3600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11" name="Titel 1"/>
          <p:cNvSpPr>
            <a:spLocks noGrp="1"/>
          </p:cNvSpPr>
          <p:nvPr>
            <p:ph type="ctrTitle"/>
          </p:nvPr>
        </p:nvSpPr>
        <p:spPr bwMode="auto">
          <a:xfrm>
            <a:off x="2107406" y="3553882"/>
            <a:ext cx="27127200" cy="1537967"/>
          </a:xfrm>
          <a:noFill/>
          <a:ln>
            <a:miter lim="800000"/>
            <a:headEnd/>
            <a:tailEnd/>
          </a:ln>
        </p:spPr>
        <p:txBody>
          <a:bodyPr wrap="square" tIns="45720" rIns="91440" bIns="45720" numCol="1" compatLnSpc="1">
            <a:prstTxWarp prst="textNoShape">
              <a:avLst/>
            </a:prstTxWarp>
          </a:bodyPr>
          <a:lstStyle/>
          <a:p>
            <a:r>
              <a:rPr lang="de-DE" b="1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Group 10: HCC Survivals</a:t>
            </a:r>
          </a:p>
        </p:txBody>
      </p:sp>
      <p:sp>
        <p:nvSpPr>
          <p:cNvPr id="16" name="Textfeld 15"/>
          <p:cNvSpPr txBox="1">
            <a:spLocks noChangeArrowheads="1"/>
          </p:cNvSpPr>
          <p:nvPr/>
        </p:nvSpPr>
        <p:spPr bwMode="auto">
          <a:xfrm>
            <a:off x="2107406" y="7470473"/>
            <a:ext cx="8243854" cy="3416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de-DE" sz="3600" dirty="0">
                <a:latin typeface="Tahoma" pitchFamily="34" charset="0"/>
                <a:ea typeface="Tahoma" pitchFamily="34" charset="0"/>
                <a:cs typeface="Tahoma" pitchFamily="34" charset="0"/>
              </a:rPr>
              <a:t>Predict whether a patient will survive the diagnosed  liver cancer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de-DE" sz="36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r>
              <a:rPr lang="de-DE" sz="3600" dirty="0">
                <a:latin typeface="Tahoma" pitchFamily="34" charset="0"/>
                <a:ea typeface="Tahoma" pitchFamily="34" charset="0"/>
                <a:cs typeface="Tahoma" pitchFamily="34" charset="0"/>
              </a:rPr>
              <a:t>    </a:t>
            </a:r>
            <a:r>
              <a:rPr lang="de-DE" sz="3600" dirty="0">
                <a:solidFill>
                  <a:srgbClr val="00B0F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Positives (1): Survives</a:t>
            </a:r>
          </a:p>
          <a:p>
            <a:r>
              <a:rPr lang="de-DE" sz="3600" dirty="0">
                <a:latin typeface="Tahoma" pitchFamily="34" charset="0"/>
                <a:ea typeface="Tahoma" pitchFamily="34" charset="0"/>
                <a:cs typeface="Tahoma" pitchFamily="34" charset="0"/>
              </a:rPr>
              <a:t>    </a:t>
            </a:r>
            <a:r>
              <a:rPr lang="de-DE" sz="3600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Negatives</a:t>
            </a:r>
            <a:r>
              <a:rPr lang="de-DE" sz="3600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  <a:sym typeface="Wingdings" pitchFamily="2" charset="2"/>
              </a:rPr>
              <a:t>(0): </a:t>
            </a:r>
            <a:r>
              <a:rPr lang="de-DE" sz="3600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Death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de-DE" sz="3600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24" name="Textplatzhalter 5"/>
          <p:cNvSpPr txBox="1">
            <a:spLocks/>
          </p:cNvSpPr>
          <p:nvPr/>
        </p:nvSpPr>
        <p:spPr bwMode="auto">
          <a:xfrm>
            <a:off x="2113737" y="6282169"/>
            <a:ext cx="16120211" cy="106656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pPr marL="304800">
              <a:spcBef>
                <a:spcPct val="20000"/>
              </a:spcBef>
              <a:buFont typeface="Arial" pitchFamily="-65" charset="0"/>
              <a:buNone/>
            </a:pPr>
            <a:r>
              <a:rPr lang="de-DE" sz="60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Challenge</a:t>
            </a:r>
          </a:p>
        </p:txBody>
      </p:sp>
      <p:sp>
        <p:nvSpPr>
          <p:cNvPr id="25" name="Textplatzhalter 5"/>
          <p:cNvSpPr txBox="1">
            <a:spLocks/>
          </p:cNvSpPr>
          <p:nvPr/>
        </p:nvSpPr>
        <p:spPr bwMode="auto">
          <a:xfrm>
            <a:off x="19347795" y="6291784"/>
            <a:ext cx="9776326" cy="1068537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pPr marL="304800">
              <a:spcBef>
                <a:spcPct val="20000"/>
              </a:spcBef>
              <a:buFont typeface="Arial" pitchFamily="-65" charset="0"/>
              <a:buNone/>
            </a:pPr>
            <a:r>
              <a:rPr lang="de-DE" sz="60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Dataset</a:t>
            </a:r>
          </a:p>
        </p:txBody>
      </p:sp>
      <p:sp>
        <p:nvSpPr>
          <p:cNvPr id="19" name="Textplatzhalter 5"/>
          <p:cNvSpPr txBox="1">
            <a:spLocks/>
          </p:cNvSpPr>
          <p:nvPr/>
        </p:nvSpPr>
        <p:spPr bwMode="auto">
          <a:xfrm>
            <a:off x="2113738" y="22764763"/>
            <a:ext cx="12864434" cy="1068538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pPr marL="304800">
              <a:spcBef>
                <a:spcPct val="20000"/>
              </a:spcBef>
              <a:buFont typeface="Arial" pitchFamily="-65" charset="0"/>
              <a:buNone/>
            </a:pPr>
            <a:r>
              <a:rPr lang="de-DE" sz="6000" dirty="0" err="1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Modelling</a:t>
            </a:r>
            <a:endParaRPr lang="de-DE" sz="6000" dirty="0">
              <a:solidFill>
                <a:schemeClr val="bg1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69D00D83-6E87-8944-8658-BB5C092F8A65}"/>
              </a:ext>
            </a:extLst>
          </p:cNvPr>
          <p:cNvSpPr txBox="1"/>
          <p:nvPr/>
        </p:nvSpPr>
        <p:spPr>
          <a:xfrm>
            <a:off x="19660374" y="7754684"/>
            <a:ext cx="9463745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ahoma" pitchFamily="34" charset="0"/>
                <a:ea typeface="Tahoma" pitchFamily="34" charset="0"/>
                <a:cs typeface="Tahoma" pitchFamily="34" charset="0"/>
              </a:rPr>
              <a:t>Number of Instances: 165 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ahoma" pitchFamily="34" charset="0"/>
                <a:ea typeface="Tahoma" pitchFamily="34" charset="0"/>
                <a:cs typeface="Tahoma" pitchFamily="34" charset="0"/>
              </a:rPr>
              <a:t>Number of Attributes: 49 +  class attribute</a:t>
            </a:r>
            <a:endParaRPr lang="de-DE" sz="36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de-DE" sz="3600" dirty="0">
                <a:latin typeface="Tahoma" pitchFamily="34" charset="0"/>
                <a:ea typeface="Tahoma" pitchFamily="34" charset="0"/>
                <a:cs typeface="Tahoma" pitchFamily="34" charset="0"/>
              </a:rPr>
              <a:t>24 nominal </a:t>
            </a:r>
            <a:r>
              <a:rPr lang="de-DE" sz="36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features</a:t>
            </a:r>
            <a:r>
              <a:rPr lang="de-DE" sz="36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de-DE" sz="36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with</a:t>
            </a:r>
            <a:r>
              <a:rPr lang="de-DE" sz="3600" dirty="0">
                <a:latin typeface="Tahoma" pitchFamily="34" charset="0"/>
                <a:ea typeface="Tahoma" pitchFamily="34" charset="0"/>
                <a:cs typeface="Tahoma" pitchFamily="34" charset="0"/>
              </a:rPr>
              <a:t> 2 values each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de-DE" sz="3600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xmlns="" id="{7A47F52B-8406-EA41-87F4-DEF1DF174E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528520" y="26607759"/>
            <a:ext cx="27576408" cy="10568030"/>
          </a:xfrm>
          <a:prstGeom prst="rect">
            <a:avLst/>
          </a:prstGeom>
        </p:spPr>
      </p:pic>
      <p:sp>
        <p:nvSpPr>
          <p:cNvPr id="15" name="Textplatzhalter 5"/>
          <p:cNvSpPr txBox="1">
            <a:spLocks/>
          </p:cNvSpPr>
          <p:nvPr/>
        </p:nvSpPr>
        <p:spPr bwMode="auto">
          <a:xfrm>
            <a:off x="2113738" y="15571240"/>
            <a:ext cx="16120211" cy="1068538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pPr marL="304800">
              <a:spcBef>
                <a:spcPct val="20000"/>
              </a:spcBef>
              <a:buFont typeface="Arial" pitchFamily="-65" charset="0"/>
              <a:buNone/>
            </a:pPr>
            <a:r>
              <a:rPr lang="de-DE" sz="60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Data Preparation</a:t>
            </a:r>
          </a:p>
        </p:txBody>
      </p:sp>
      <p:sp>
        <p:nvSpPr>
          <p:cNvPr id="17" name="Textplatzhalter 5"/>
          <p:cNvSpPr txBox="1">
            <a:spLocks/>
          </p:cNvSpPr>
          <p:nvPr/>
        </p:nvSpPr>
        <p:spPr bwMode="auto">
          <a:xfrm>
            <a:off x="2179027" y="10886793"/>
            <a:ext cx="16054922" cy="1068538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pPr marL="304800">
              <a:spcBef>
                <a:spcPct val="20000"/>
              </a:spcBef>
              <a:buFont typeface="Arial" pitchFamily="-65" charset="0"/>
              <a:buNone/>
            </a:pPr>
            <a:r>
              <a:rPr lang="de-DE" sz="60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Data </a:t>
            </a:r>
            <a:r>
              <a:rPr lang="en-GB" sz="60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Understanding </a:t>
            </a:r>
            <a:endParaRPr lang="de-DE" sz="6000" dirty="0">
              <a:solidFill>
                <a:schemeClr val="bg1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D82837AD-FDF4-6E43-968A-5B2D4A6A21BD}"/>
              </a:ext>
            </a:extLst>
          </p:cNvPr>
          <p:cNvSpPr txBox="1"/>
          <p:nvPr/>
        </p:nvSpPr>
        <p:spPr>
          <a:xfrm>
            <a:off x="2179027" y="12174649"/>
            <a:ext cx="13607187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de-DE" sz="3600" dirty="0">
                <a:latin typeface="Tahoma" pitchFamily="34" charset="0"/>
                <a:ea typeface="Tahoma" pitchFamily="34" charset="0"/>
                <a:cs typeface="Tahoma" pitchFamily="34" charset="0"/>
              </a:rPr>
              <a:t>Only 8 patients have complete data.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de-DE" sz="3600" dirty="0">
                <a:latin typeface="Tahoma" pitchFamily="34" charset="0"/>
                <a:ea typeface="Tahoma" pitchFamily="34" charset="0"/>
                <a:cs typeface="Tahoma" pitchFamily="34" charset="0"/>
              </a:rPr>
              <a:t>Non-Ignorable Missing Values.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de-DE" sz="3600" dirty="0">
                <a:latin typeface="Tahoma" pitchFamily="34" charset="0"/>
                <a:ea typeface="Tahoma" pitchFamily="34" charset="0"/>
                <a:cs typeface="Tahoma" pitchFamily="34" charset="0"/>
              </a:rPr>
              <a:t>No Semantic and </a:t>
            </a:r>
            <a:r>
              <a:rPr lang="de-DE" sz="36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Syntactic</a:t>
            </a:r>
            <a:r>
              <a:rPr lang="de-DE" sz="3600" dirty="0">
                <a:latin typeface="Tahoma" pitchFamily="34" charset="0"/>
                <a:ea typeface="Tahoma" pitchFamily="34" charset="0"/>
                <a:cs typeface="Tahoma" pitchFamily="34" charset="0"/>
              </a:rPr>
              <a:t> Errors</a:t>
            </a:r>
            <a:endParaRPr lang="" sz="36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de-DE" sz="3600" dirty="0">
                <a:latin typeface="Tahoma" pitchFamily="34" charset="0"/>
                <a:ea typeface="Tahoma" pitchFamily="34" charset="0"/>
                <a:cs typeface="Tahoma" pitchFamily="34" charset="0"/>
              </a:rPr>
              <a:t>Outlier Treatment – </a:t>
            </a:r>
            <a:r>
              <a:rPr lang="de-DE" sz="3600" b="1" dirty="0">
                <a:latin typeface="Tahoma" pitchFamily="34" charset="0"/>
                <a:ea typeface="Tahoma" pitchFamily="34" charset="0"/>
                <a:cs typeface="Tahoma" pitchFamily="34" charset="0"/>
              </a:rPr>
              <a:t>Closely Permitted Value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de-DE" sz="3600" dirty="0">
                <a:latin typeface="Tahoma" pitchFamily="34" charset="0"/>
                <a:ea typeface="Tahoma" pitchFamily="34" charset="0"/>
                <a:cs typeface="Tahoma" pitchFamily="34" charset="0"/>
              </a:rPr>
              <a:t>Missing Value Substitution – </a:t>
            </a:r>
            <a:r>
              <a:rPr lang="de-DE" sz="3600" b="1" dirty="0">
                <a:latin typeface="Tahoma" pitchFamily="34" charset="0"/>
                <a:ea typeface="Tahoma" pitchFamily="34" charset="0"/>
                <a:cs typeface="Tahoma" pitchFamily="34" charset="0"/>
              </a:rPr>
              <a:t>Median / Most Frequent Value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79026" y="17115601"/>
            <a:ext cx="1191549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de-DE" sz="3600" dirty="0">
                <a:latin typeface="Tahoma" pitchFamily="34" charset="0"/>
                <a:ea typeface="Tahoma" pitchFamily="34" charset="0"/>
                <a:cs typeface="Tahoma" pitchFamily="34" charset="0"/>
              </a:rPr>
              <a:t> Remove columns with missing values </a:t>
            </a:r>
            <a:r>
              <a:rPr lang="de-DE" sz="3600" b="1" dirty="0">
                <a:latin typeface="Tahoma" pitchFamily="34" charset="0"/>
                <a:ea typeface="Tahoma" pitchFamily="34" charset="0"/>
                <a:cs typeface="Tahoma" pitchFamily="34" charset="0"/>
              </a:rPr>
              <a:t>&gt;60</a:t>
            </a:r>
            <a:endParaRPr lang="" sz="36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" sz="36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de-DE" sz="3600" dirty="0">
                <a:latin typeface="Tahoma" pitchFamily="34" charset="0"/>
                <a:ea typeface="Tahoma" pitchFamily="34" charset="0"/>
                <a:cs typeface="Tahoma" pitchFamily="34" charset="0"/>
              </a:rPr>
              <a:t>Forward Feature Selection :</a:t>
            </a:r>
          </a:p>
          <a:p>
            <a:r>
              <a:rPr lang="de-DE" sz="36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" sz="3600" b="1" dirty="0">
                <a:latin typeface="Tahoma" pitchFamily="34" charset="0"/>
                <a:ea typeface="Tahoma" pitchFamily="34" charset="0"/>
                <a:cs typeface="Tahoma" pitchFamily="34" charset="0"/>
              </a:rPr>
              <a:t>7 attributes </a:t>
            </a:r>
            <a:r>
              <a:rPr lang="de-DE" sz="3600" b="1" dirty="0">
                <a:latin typeface="Tahoma" pitchFamily="34" charset="0"/>
                <a:ea typeface="Tahoma" pitchFamily="34" charset="0"/>
                <a:cs typeface="Tahoma" pitchFamily="34" charset="0"/>
              </a:rPr>
              <a:t>~ 79%</a:t>
            </a:r>
          </a:p>
          <a:p>
            <a:pPr>
              <a:buFont typeface="Arial" pitchFamily="34" charset="0"/>
              <a:buChar char="•"/>
            </a:pPr>
            <a:r>
              <a:rPr lang="" sz="36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de-DE" sz="36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Correlation</a:t>
            </a:r>
            <a:r>
              <a:rPr lang="de-DE" sz="3600" dirty="0">
                <a:latin typeface="Tahoma" pitchFamily="34" charset="0"/>
                <a:ea typeface="Tahoma" pitchFamily="34" charset="0"/>
                <a:cs typeface="Tahoma" pitchFamily="34" charset="0"/>
              </a:rPr>
              <a:t> Threshold – </a:t>
            </a:r>
            <a:r>
              <a:rPr lang="" sz="3600" b="1" dirty="0">
                <a:latin typeface="Tahoma" pitchFamily="34" charset="0"/>
                <a:ea typeface="Tahoma" pitchFamily="34" charset="0"/>
                <a:cs typeface="Tahoma" pitchFamily="34" charset="0"/>
              </a:rPr>
              <a:t>0.7	</a:t>
            </a:r>
            <a:endParaRPr lang="en-US" sz="36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2565838" y="16639778"/>
            <a:ext cx="885831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" sz="3600" dirty="0">
                <a:latin typeface="Tahoma" pitchFamily="34" charset="0"/>
                <a:ea typeface="Tahoma" pitchFamily="34" charset="0"/>
                <a:cs typeface="Tahoma" pitchFamily="34" charset="0"/>
              </a:rPr>
              <a:t>  </a:t>
            </a:r>
          </a:p>
          <a:p>
            <a:r>
              <a:rPr lang="" sz="3600" b="1" dirty="0">
                <a:latin typeface="Tahoma" pitchFamily="34" charset="0"/>
                <a:ea typeface="Tahoma" pitchFamily="34" charset="0"/>
                <a:cs typeface="Tahoma" pitchFamily="34" charset="0"/>
              </a:rPr>
              <a:t>Selected  At</a:t>
            </a:r>
            <a:r>
              <a:rPr lang="de-DE" sz="3600" b="1" dirty="0">
                <a:latin typeface="Tahoma" pitchFamily="34" charset="0"/>
                <a:ea typeface="Tahoma" pitchFamily="34" charset="0"/>
                <a:cs typeface="Tahoma" pitchFamily="34" charset="0"/>
              </a:rPr>
              <a:t>t</a:t>
            </a:r>
            <a:r>
              <a:rPr lang="" sz="3600" b="1" dirty="0">
                <a:latin typeface="Tahoma" pitchFamily="34" charset="0"/>
                <a:ea typeface="Tahoma" pitchFamily="34" charset="0"/>
                <a:cs typeface="Tahoma" pitchFamily="34" charset="0"/>
              </a:rPr>
              <a:t>ributes</a:t>
            </a:r>
          </a:p>
          <a:p>
            <a:pPr>
              <a:buFont typeface="Arial" pitchFamily="34" charset="0"/>
              <a:buChar char="•"/>
            </a:pPr>
            <a:r>
              <a:rPr lang="" sz="36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3600" dirty="0">
                <a:latin typeface="Tahoma" pitchFamily="34" charset="0"/>
                <a:ea typeface="Tahoma" pitchFamily="34" charset="0"/>
                <a:cs typeface="Tahoma" pitchFamily="34" charset="0"/>
              </a:rPr>
              <a:t>Hepatitis B Core Antibody</a:t>
            </a:r>
            <a:endParaRPr lang="" sz="36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" sz="36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3600" dirty="0">
                <a:latin typeface="Tahoma" pitchFamily="34" charset="0"/>
                <a:ea typeface="Tahoma" pitchFamily="34" charset="0"/>
                <a:cs typeface="Tahoma" pitchFamily="34" charset="0"/>
              </a:rPr>
              <a:t>Hepatitis C Virus Antibody</a:t>
            </a:r>
          </a:p>
          <a:p>
            <a:pPr>
              <a:buFont typeface="Arial" pitchFamily="34" charset="0"/>
              <a:buChar char="•"/>
            </a:pPr>
            <a:r>
              <a:rPr lang="" sz="36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de-DE" sz="3600" dirty="0">
                <a:latin typeface="Tahoma" pitchFamily="34" charset="0"/>
                <a:ea typeface="Tahoma" pitchFamily="34" charset="0"/>
                <a:cs typeface="Tahoma" pitchFamily="34" charset="0"/>
              </a:rPr>
              <a:t>Endemic Countries</a:t>
            </a:r>
          </a:p>
          <a:p>
            <a:pPr>
              <a:buFont typeface="Arial" pitchFamily="34" charset="0"/>
              <a:buChar char="•"/>
            </a:pPr>
            <a:r>
              <a:rPr lang="" sz="36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3600" dirty="0">
                <a:latin typeface="Tahoma" pitchFamily="34" charset="0"/>
                <a:ea typeface="Tahoma" pitchFamily="34" charset="0"/>
                <a:cs typeface="Tahoma" pitchFamily="34" charset="0"/>
              </a:rPr>
              <a:t>International Normalized Ratio</a:t>
            </a:r>
          </a:p>
          <a:p>
            <a:pPr>
              <a:buFont typeface="Arial" pitchFamily="34" charset="0"/>
              <a:buChar char="•"/>
            </a:pPr>
            <a:r>
              <a:rPr lang="" sz="36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3600" dirty="0">
                <a:latin typeface="Tahoma" pitchFamily="34" charset="0"/>
                <a:ea typeface="Tahoma" pitchFamily="34" charset="0"/>
                <a:cs typeface="Tahoma" pitchFamily="34" charset="0"/>
              </a:rPr>
              <a:t>Ascites degree</a:t>
            </a:r>
          </a:p>
          <a:p>
            <a:pPr>
              <a:buFont typeface="Arial" pitchFamily="34" charset="0"/>
              <a:buChar char="•"/>
            </a:pPr>
            <a:r>
              <a:rPr lang="" sz="36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de-DE" sz="3600" dirty="0">
                <a:latin typeface="Tahoma" pitchFamily="34" charset="0"/>
                <a:ea typeface="Tahoma" pitchFamily="34" charset="0"/>
                <a:cs typeface="Tahoma" pitchFamily="34" charset="0"/>
              </a:rPr>
              <a:t>Alpha-Fetoprotein (ng/mL)</a:t>
            </a:r>
            <a:endParaRPr lang="" sz="36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" sz="36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de-DE" sz="3600" dirty="0">
                <a:latin typeface="Tahoma" pitchFamily="34" charset="0"/>
                <a:ea typeface="Tahoma" pitchFamily="34" charset="0"/>
                <a:cs typeface="Tahoma" pitchFamily="34" charset="0"/>
              </a:rPr>
              <a:t>Mean Corpuscular Volume(fl)</a:t>
            </a:r>
            <a:endParaRPr lang="" sz="36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" sz="36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de-DE" sz="3600" dirty="0">
                <a:latin typeface="Tahoma" pitchFamily="34" charset="0"/>
                <a:ea typeface="Tahoma" pitchFamily="34" charset="0"/>
                <a:cs typeface="Tahoma" pitchFamily="34" charset="0"/>
              </a:rPr>
              <a:t>Alkaline phosphatase (U/L)</a:t>
            </a:r>
            <a:endParaRPr lang="" sz="3600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179026" y="23816450"/>
            <a:ext cx="984429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" sz="360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" sz="3600" dirty="0">
                <a:latin typeface="Tahoma" pitchFamily="34" charset="0"/>
                <a:ea typeface="Tahoma" pitchFamily="34" charset="0"/>
                <a:cs typeface="Tahoma" pitchFamily="34" charset="0"/>
              </a:rPr>
              <a:t>Partitioning</a:t>
            </a:r>
          </a:p>
          <a:p>
            <a:r>
              <a:rPr lang="" sz="3600">
                <a:latin typeface="Tahoma" pitchFamily="34" charset="0"/>
                <a:ea typeface="Tahoma" pitchFamily="34" charset="0"/>
                <a:cs typeface="Tahoma" pitchFamily="34" charset="0"/>
              </a:rPr>
              <a:t>  </a:t>
            </a:r>
            <a:r>
              <a:rPr lang="" sz="3600" dirty="0">
                <a:latin typeface="Tahoma" pitchFamily="34" charset="0"/>
                <a:ea typeface="Tahoma" pitchFamily="34" charset="0"/>
                <a:cs typeface="Tahoma" pitchFamily="34" charset="0"/>
              </a:rPr>
              <a:t>Cross Validation</a:t>
            </a:r>
            <a:r>
              <a:rPr lang="de-DE" sz="3600" dirty="0">
                <a:latin typeface="Tahoma" pitchFamily="34" charset="0"/>
                <a:ea typeface="Tahoma" pitchFamily="34" charset="0"/>
                <a:cs typeface="Tahoma" pitchFamily="34" charset="0"/>
              </a:rPr>
              <a:t>-10 fold</a:t>
            </a:r>
            <a:r>
              <a:rPr lang="" sz="36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endParaRPr lang="de-DE" sz="36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de-DE" sz="3600" dirty="0">
                <a:latin typeface="Tahoma" pitchFamily="34" charset="0"/>
                <a:ea typeface="Tahoma" pitchFamily="34" charset="0"/>
                <a:cs typeface="Tahoma" pitchFamily="34" charset="0"/>
              </a:rPr>
              <a:t> Classification Model</a:t>
            </a:r>
          </a:p>
          <a:p>
            <a:r>
              <a:rPr lang="" sz="3600">
                <a:latin typeface="Tahoma" pitchFamily="34" charset="0"/>
                <a:ea typeface="Tahoma" pitchFamily="34" charset="0"/>
                <a:cs typeface="Tahoma" pitchFamily="34" charset="0"/>
              </a:rPr>
              <a:t>  </a:t>
            </a:r>
            <a:r>
              <a:rPr lang="de-DE" sz="3600" b="1" dirty="0">
                <a:latin typeface="Tahoma" pitchFamily="34" charset="0"/>
                <a:ea typeface="Tahoma" pitchFamily="34" charset="0"/>
                <a:cs typeface="Tahoma" pitchFamily="34" charset="0"/>
              </a:rPr>
              <a:t>Naive Bayes</a:t>
            </a:r>
            <a:endParaRPr lang="en-US" sz="36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9328006" y="24223998"/>
            <a:ext cx="102585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de-DE" sz="36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" sz="3600" dirty="0">
                <a:latin typeface="Tahoma" pitchFamily="34" charset="0"/>
                <a:ea typeface="Tahoma" pitchFamily="34" charset="0"/>
                <a:cs typeface="Tahoma" pitchFamily="34" charset="0"/>
              </a:rPr>
              <a:t>Naive Ba</a:t>
            </a:r>
            <a:r>
              <a:rPr lang="de-DE" sz="3600" dirty="0">
                <a:latin typeface="Tahoma" pitchFamily="34" charset="0"/>
                <a:ea typeface="Tahoma" pitchFamily="34" charset="0"/>
                <a:cs typeface="Tahoma" pitchFamily="34" charset="0"/>
              </a:rPr>
              <a:t>yes </a:t>
            </a:r>
          </a:p>
          <a:p>
            <a:r>
              <a:rPr lang="de-DE" sz="3600" dirty="0">
                <a:latin typeface="Tahoma" pitchFamily="34" charset="0"/>
                <a:ea typeface="Tahoma" pitchFamily="34" charset="0"/>
                <a:cs typeface="Tahoma" pitchFamily="34" charset="0"/>
              </a:rPr>
              <a:t>  </a:t>
            </a:r>
            <a:r>
              <a:rPr lang="de-DE" sz="3600" b="1" dirty="0">
                <a:latin typeface="Tahoma" pitchFamily="34" charset="0"/>
                <a:ea typeface="Tahoma" pitchFamily="34" charset="0"/>
                <a:cs typeface="Tahoma" pitchFamily="34" charset="0"/>
              </a:rPr>
              <a:t>Accuracy ~ 77%</a:t>
            </a:r>
            <a:endParaRPr lang="en-US" sz="36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113738" y="38844491"/>
            <a:ext cx="273778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>
                <a:latin typeface="Tahoma" pitchFamily="34" charset="0"/>
                <a:ea typeface="Tahoma" pitchFamily="34" charset="0"/>
                <a:cs typeface="Tahoma" pitchFamily="34" charset="0"/>
              </a:rPr>
              <a:t>7 attributes are enough to classify the given instances.</a:t>
            </a:r>
          </a:p>
          <a:p>
            <a:r>
              <a:rPr lang="de-DE" sz="3600" dirty="0">
                <a:latin typeface="Tahoma" pitchFamily="34" charset="0"/>
                <a:ea typeface="Tahoma" pitchFamily="34" charset="0"/>
                <a:cs typeface="Tahoma" pitchFamily="34" charset="0"/>
              </a:rPr>
              <a:t>Dataset is too small and has too many </a:t>
            </a:r>
            <a:r>
              <a:rPr lang="de-DE" sz="36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missing</a:t>
            </a:r>
            <a:r>
              <a:rPr lang="de-DE" sz="36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de-DE" sz="36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values</a:t>
            </a:r>
            <a:r>
              <a:rPr lang="de-DE" sz="3600" dirty="0">
                <a:latin typeface="Tahoma" pitchFamily="34" charset="0"/>
                <a:ea typeface="Tahoma" pitchFamily="34" charset="0"/>
                <a:cs typeface="Tahoma" pitchFamily="34" charset="0"/>
              </a:rPr>
              <a:t>, therefore achieving a better/perfect accuracy is difficult.  </a:t>
            </a:r>
          </a:p>
        </p:txBody>
      </p:sp>
      <p:grpSp>
        <p:nvGrpSpPr>
          <p:cNvPr id="35" name="Gruppieren 34">
            <a:extLst>
              <a:ext uri="{FF2B5EF4-FFF2-40B4-BE49-F238E27FC236}">
                <a16:creationId xmlns:a16="http://schemas.microsoft.com/office/drawing/2014/main" xmlns="" id="{BEDE5915-A723-4FB8-A6EF-10A607EFC9A6}"/>
              </a:ext>
            </a:extLst>
          </p:cNvPr>
          <p:cNvGrpSpPr/>
          <p:nvPr/>
        </p:nvGrpSpPr>
        <p:grpSpPr>
          <a:xfrm>
            <a:off x="19660374" y="10063008"/>
            <a:ext cx="11459508" cy="8767105"/>
            <a:chOff x="19386078" y="9835265"/>
            <a:chExt cx="11791876" cy="9327601"/>
          </a:xfrm>
        </p:grpSpPr>
        <p:grpSp>
          <p:nvGrpSpPr>
            <p:cNvPr id="34" name="Gruppieren 33">
              <a:extLst>
                <a:ext uri="{FF2B5EF4-FFF2-40B4-BE49-F238E27FC236}">
                  <a16:creationId xmlns:a16="http://schemas.microsoft.com/office/drawing/2014/main" xmlns="" id="{090CC98E-F443-4EFE-9243-CD6F236CB3E9}"/>
                </a:ext>
              </a:extLst>
            </p:cNvPr>
            <p:cNvGrpSpPr/>
            <p:nvPr/>
          </p:nvGrpSpPr>
          <p:grpSpPr>
            <a:xfrm>
              <a:off x="19386078" y="9835265"/>
              <a:ext cx="9463480" cy="7671631"/>
              <a:chOff x="18112088" y="9835265"/>
              <a:chExt cx="9463480" cy="7671631"/>
            </a:xfrm>
          </p:grpSpPr>
          <p:pic>
            <p:nvPicPr>
              <p:cNvPr id="5" name="Grafik 4">
                <a:extLst>
                  <a:ext uri="{FF2B5EF4-FFF2-40B4-BE49-F238E27FC236}">
                    <a16:creationId xmlns:a16="http://schemas.microsoft.com/office/drawing/2014/main" xmlns="" id="{72B10603-EE49-4314-A89A-E9CC4FDA161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96DAC541-7B7A-43D3-8B79-37D633B846F1}">
                    <asvg:svgBlip xmlns:asvg="http://schemas.microsoft.com/office/drawing/2016/SVG/main" xmlns="" r:embed="rId5"/>
                  </a:ext>
                </a:extLst>
              </a:blip>
              <a:srcRect b="28726"/>
              <a:stretch/>
            </p:blipFill>
            <p:spPr>
              <a:xfrm>
                <a:off x="18112089" y="9835265"/>
                <a:ext cx="4720590" cy="2659871"/>
              </a:xfrm>
              <a:prstGeom prst="rect">
                <a:avLst/>
              </a:prstGeom>
            </p:spPr>
          </p:pic>
          <p:pic>
            <p:nvPicPr>
              <p:cNvPr id="10" name="Grafik 9">
                <a:extLst>
                  <a:ext uri="{FF2B5EF4-FFF2-40B4-BE49-F238E27FC236}">
                    <a16:creationId xmlns:a16="http://schemas.microsoft.com/office/drawing/2014/main" xmlns="" id="{1BCD2D8C-C996-4909-8B31-A5B14E96FB7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>
                <a:extLst>
                  <a:ext uri="{96DAC541-7B7A-43D3-8B79-37D633B846F1}">
                    <asvg:svgBlip xmlns:asvg="http://schemas.microsoft.com/office/drawing/2016/SVG/main" xmlns="" r:embed="rId7"/>
                  </a:ext>
                </a:extLst>
              </a:blip>
              <a:srcRect b="30771"/>
              <a:stretch/>
            </p:blipFill>
            <p:spPr>
              <a:xfrm>
                <a:off x="22835118" y="9845863"/>
                <a:ext cx="4720590" cy="2583554"/>
              </a:xfrm>
              <a:prstGeom prst="rect">
                <a:avLst/>
              </a:prstGeom>
            </p:spPr>
          </p:pic>
          <p:pic>
            <p:nvPicPr>
              <p:cNvPr id="13" name="Grafik 12">
                <a:extLst>
                  <a:ext uri="{FF2B5EF4-FFF2-40B4-BE49-F238E27FC236}">
                    <a16:creationId xmlns:a16="http://schemas.microsoft.com/office/drawing/2014/main" xmlns="" id="{25B82821-E349-45FD-8720-9E76440446D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>
                <a:extLs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rcRect b="28343"/>
              <a:stretch/>
            </p:blipFill>
            <p:spPr>
              <a:xfrm>
                <a:off x="18116967" y="12495136"/>
                <a:ext cx="4720590" cy="2384034"/>
              </a:xfrm>
              <a:prstGeom prst="rect">
                <a:avLst/>
              </a:prstGeom>
            </p:spPr>
          </p:pic>
          <p:pic>
            <p:nvPicPr>
              <p:cNvPr id="28" name="Grafik 27">
                <a:extLst>
                  <a:ext uri="{FF2B5EF4-FFF2-40B4-BE49-F238E27FC236}">
                    <a16:creationId xmlns:a16="http://schemas.microsoft.com/office/drawing/2014/main" xmlns="" id="{BBA9FF9A-D8BD-4AA1-B8BC-0391934E954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rcRect b="30243"/>
              <a:stretch/>
            </p:blipFill>
            <p:spPr>
              <a:xfrm>
                <a:off x="22854978" y="14903638"/>
                <a:ext cx="4720590" cy="2603258"/>
              </a:xfrm>
              <a:prstGeom prst="rect">
                <a:avLst/>
              </a:prstGeom>
            </p:spPr>
          </p:pic>
          <p:pic>
            <p:nvPicPr>
              <p:cNvPr id="30" name="Grafik 29">
                <a:extLst>
                  <a:ext uri="{FF2B5EF4-FFF2-40B4-BE49-F238E27FC236}">
                    <a16:creationId xmlns:a16="http://schemas.microsoft.com/office/drawing/2014/main" xmlns="" id="{EC61E265-BB2A-48E6-B842-AB867C1D370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2">
                <a:extLst>
                  <a:ext uri="{96DAC541-7B7A-43D3-8B79-37D633B846F1}">
                    <asvg:svgBlip xmlns:asvg="http://schemas.microsoft.com/office/drawing/2016/SVG/main" xmlns="" r:embed="rId13"/>
                  </a:ext>
                </a:extLst>
              </a:blip>
              <a:srcRect b="28029"/>
              <a:stretch/>
            </p:blipFill>
            <p:spPr>
              <a:xfrm>
                <a:off x="18112088" y="14821014"/>
                <a:ext cx="4727907" cy="2685882"/>
              </a:xfrm>
              <a:prstGeom prst="rect">
                <a:avLst/>
              </a:prstGeom>
            </p:spPr>
          </p:pic>
          <p:pic>
            <p:nvPicPr>
              <p:cNvPr id="32" name="Grafik 31">
                <a:extLst>
                  <a:ext uri="{FF2B5EF4-FFF2-40B4-BE49-F238E27FC236}">
                    <a16:creationId xmlns:a16="http://schemas.microsoft.com/office/drawing/2014/main" xmlns="" id="{4DDD21A2-9FED-4684-B59F-5AF35E6CE29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4">
                <a:extLst>
                  <a:ext uri="{96DAC541-7B7A-43D3-8B79-37D633B846F1}">
                    <asvg:svgBlip xmlns:asvg="http://schemas.microsoft.com/office/drawing/2016/SVG/main" xmlns="" r:embed="rId15"/>
                  </a:ext>
                </a:extLst>
              </a:blip>
              <a:srcRect b="31758"/>
              <a:stretch/>
            </p:blipFill>
            <p:spPr>
              <a:xfrm>
                <a:off x="22839996" y="12332450"/>
                <a:ext cx="4720590" cy="2546720"/>
              </a:xfrm>
              <a:prstGeom prst="rect">
                <a:avLst/>
              </a:prstGeom>
            </p:spPr>
          </p:pic>
        </p:grpSp>
        <p:sp>
          <p:nvSpPr>
            <p:cNvPr id="33" name="Textfeld 32">
              <a:extLst>
                <a:ext uri="{FF2B5EF4-FFF2-40B4-BE49-F238E27FC236}">
                  <a16:creationId xmlns:a16="http://schemas.microsoft.com/office/drawing/2014/main" xmlns="" id="{30040E4C-65E8-4B34-8F11-E9E6A8195614}"/>
                </a:ext>
              </a:extLst>
            </p:cNvPr>
            <p:cNvSpPr txBox="1"/>
            <p:nvPr/>
          </p:nvSpPr>
          <p:spPr>
            <a:xfrm>
              <a:off x="19405866" y="17593206"/>
              <a:ext cx="11772088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Age @ </a:t>
              </a:r>
              <a:r>
                <a:rPr lang="de-DE" sz="32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diagnosis</a:t>
              </a:r>
              <a:r>
                <a:rPr lang="de-DE" sz="3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-  Gender, </a:t>
              </a:r>
            </a:p>
            <a:p>
              <a:r>
                <a:rPr lang="de-DE" sz="3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Grams </a:t>
              </a:r>
              <a:r>
                <a:rPr lang="de-DE" sz="32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of</a:t>
              </a:r>
              <a:r>
                <a:rPr lang="de-DE" sz="3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de-DE" sz="32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alcohol</a:t>
              </a:r>
              <a:r>
                <a:rPr lang="de-DE" sz="3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per </a:t>
              </a:r>
              <a:r>
                <a:rPr lang="de-DE" sz="32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day</a:t>
              </a:r>
              <a:r>
                <a:rPr lang="de-DE" sz="3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- Oxygen </a:t>
              </a:r>
              <a:r>
                <a:rPr lang="de-DE" sz="32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saturation</a:t>
              </a:r>
              <a:endParaRPr lang="de-DE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endParaRPr>
            </a:p>
            <a:p>
              <a:r>
                <a:rPr lang="de-DE" sz="3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Major </a:t>
              </a:r>
              <a:r>
                <a:rPr lang="de-DE" sz="32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dimension</a:t>
              </a:r>
              <a:r>
                <a:rPr lang="de-DE" sz="3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de-DE" sz="32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of</a:t>
              </a:r>
              <a:r>
                <a:rPr lang="de-DE" sz="3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de-DE" sz="32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nodules</a:t>
              </a:r>
              <a:r>
                <a:rPr lang="de-DE" sz="3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(cm) - </a:t>
              </a:r>
              <a:r>
                <a:rPr lang="de-DE" sz="32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Haemoglobin</a:t>
              </a:r>
              <a:endParaRPr lang="de-DE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-Design">
  <a:themeElements>
    <a:clrScheme name="Benutzerdefiniert 53">
      <a:dk1>
        <a:sysClr val="windowText" lastClr="000000"/>
      </a:dk1>
      <a:lt1>
        <a:sysClr val="window" lastClr="FFFFFF"/>
      </a:lt1>
      <a:dk2>
        <a:srgbClr val="5D8EA6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7A003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237</Words>
  <Application>Microsoft Office PowerPoint</Application>
  <PresentationFormat>Custom</PresentationFormat>
  <Paragraphs>46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Office-Design</vt:lpstr>
      <vt:lpstr>Group 10: HCC Survivals</vt:lpstr>
    </vt:vector>
  </TitlesOfParts>
  <Company>Ö-Konzept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1</dc:title>
  <dc:creator>Marko Berger</dc:creator>
  <cp:lastModifiedBy>Lenovo</cp:lastModifiedBy>
  <cp:revision>93</cp:revision>
  <cp:lastPrinted>2009-11-04T13:34:31Z</cp:lastPrinted>
  <dcterms:created xsi:type="dcterms:W3CDTF">2009-11-16T15:15:18Z</dcterms:created>
  <dcterms:modified xsi:type="dcterms:W3CDTF">2019-06-26T19:42:28Z</dcterms:modified>
</cp:coreProperties>
</file>